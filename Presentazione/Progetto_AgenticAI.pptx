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1" r:id="rId3"/>
    <p:sldId id="264" r:id="rId4"/>
    <p:sldId id="267" r:id="rId5"/>
    <p:sldId id="262" r:id="rId6"/>
    <p:sldId id="263" r:id="rId7"/>
    <p:sldId id="268" r:id="rId8"/>
    <p:sldId id="271" r:id="rId9"/>
    <p:sldId id="265" r:id="rId10"/>
    <p:sldId id="266" r:id="rId11"/>
    <p:sldId id="269" r:id="rId12"/>
    <p:sldId id="270" r:id="rId13"/>
    <p:sldId id="272" r:id="rId1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12"/>
    <p:restoredTop sz="94653"/>
  </p:normalViewPr>
  <p:slideViewPr>
    <p:cSldViewPr snapToGrid="0">
      <p:cViewPr>
        <p:scale>
          <a:sx n="79" d="100"/>
          <a:sy n="79" d="100"/>
        </p:scale>
        <p:origin x="512" y="10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B0AFFC-1C04-8448-8B8B-8571426B3284}" type="datetimeFigureOut">
              <a:rPr lang="it-IT" smtClean="0"/>
              <a:t>30/08/26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B945CC-4EEA-C14F-A9B0-6C62D67CB6F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89961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B507D4-2EBB-D6E1-F97A-93E447853F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3A36F87-9858-AB31-D69F-8210ABC355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99F2A46-F129-C868-B9C8-AD53A2E7C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B7F7A-EFB6-EE4B-B48E-5A8531EFB82F}" type="datetimeFigureOut">
              <a:rPr lang="it-IT" smtClean="0"/>
              <a:t>30/08/26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AA9CF63-14F2-3FEF-E33B-9DA8520FD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F94E45B-64EC-6F5D-784B-15ECD3F0D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2E8DE-57AA-FB46-A23B-E826A51B7A0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46065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83C54B-F2CD-AAD3-148D-A5368AC15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023EA89-6C5D-4AED-46F6-2543BA04D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0353B65-E17C-E1AF-DEE4-378F32A6F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B7F7A-EFB6-EE4B-B48E-5A8531EFB82F}" type="datetimeFigureOut">
              <a:rPr lang="it-IT" smtClean="0"/>
              <a:t>30/08/26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EA47D6E-8B3B-859C-4664-F7C716C75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3FB9733-FCBA-501D-2EF9-9BFB913F7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2E8DE-57AA-FB46-A23B-E826A51B7A0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93530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7108FE8-BF01-47D1-9687-3BD936061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42A348E-1F2B-EE14-1032-AD0F2B11E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62B5D11-8B30-E254-BFD6-0E017559E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B7F7A-EFB6-EE4B-B48E-5A8531EFB82F}" type="datetimeFigureOut">
              <a:rPr lang="it-IT" smtClean="0"/>
              <a:t>30/08/26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CF89F4A-026A-2BC9-9978-9942C20D4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22E626D-323F-95C4-3F00-27BFF583E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2E8DE-57AA-FB46-A23B-E826A51B7A0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9341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2123807-0AAD-44B0-8D36-5BA6DF52C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84A77C8-B740-AB64-6158-C155C27D8D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9AF37D-E832-F038-2C4A-51EFC1EBE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5CC76B0-0318-CC64-0BBF-96C3DAB3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B7F7A-EFB6-EE4B-B48E-5A8531EFB82F}" type="datetimeFigureOut">
              <a:rPr lang="it-IT" smtClean="0"/>
              <a:t>30/08/26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46CD3BD-749C-6683-15F4-8B662C5EC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3873F81-781B-A091-60A1-43905DF25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2E8DE-57AA-FB46-A23B-E826A51B7A0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81788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322726-BAE5-EDE4-7756-EC80B6FA4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622099E-24BA-DB3E-8FF4-503E453AE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5CB6885-4F4C-4FF3-8D26-6D9095CFD3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93AA3B21-A1D4-D614-EE1F-4B56BB4DAD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7C243AB4-A97B-2935-63D5-7C4A470D59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BBDB1D1A-8035-DA61-360B-CCF7AFAB5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B7F7A-EFB6-EE4B-B48E-5A8531EFB82F}" type="datetimeFigureOut">
              <a:rPr lang="it-IT" smtClean="0"/>
              <a:t>30/08/26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F9F8E3E1-8923-064C-C641-15F3BFEE7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9600B00F-2CB6-2266-83DF-DA7E71491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2E8DE-57AA-FB46-A23B-E826A51B7A0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84612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948A94-3172-411E-D7C9-ED89DC430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F4F1854-E36C-4F5D-F3EE-4889E0D66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B7F7A-EFB6-EE4B-B48E-5A8531EFB82F}" type="datetimeFigureOut">
              <a:rPr lang="it-IT" smtClean="0"/>
              <a:t>30/08/26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FB84BAF-3111-0874-5D31-826B9BF3E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A3141FD-1A2B-6FB1-9DE0-213D8B1DD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2E8DE-57AA-FB46-A23B-E826A51B7A0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4699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D3C4F613-BF85-23F2-DB20-ACF8ADFE2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B7F7A-EFB6-EE4B-B48E-5A8531EFB82F}" type="datetimeFigureOut">
              <a:rPr lang="it-IT" smtClean="0"/>
              <a:t>30/08/26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C2FEB24-960F-7D20-D5F2-271CCE0BC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754DD41-B9D3-F7A2-11A8-D4BE5DBCD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2E8DE-57AA-FB46-A23B-E826A51B7A0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2785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3FA267-A15D-3916-722A-1820DEF1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4E88687-3FD9-0E02-823A-31F25299D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C434470-DF1C-D837-EFAE-65B6063CF1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C31ADD5-C5AD-2402-5F3E-209A00B27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B7F7A-EFB6-EE4B-B48E-5A8531EFB82F}" type="datetimeFigureOut">
              <a:rPr lang="it-IT" smtClean="0"/>
              <a:t>30/08/26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0C267B7-D1DE-82FB-84BD-EC124456C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61EEDA8-532B-F2B3-982D-74827D45B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2E8DE-57AA-FB46-A23B-E826A51B7A0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64219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983E2C4-469C-3759-6A76-9B780EC50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8FD30DDE-0A1B-3E1F-C861-D75D5226F3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3A188EC-01C6-EBED-733A-564DAE42FA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C6F45E0-5BE6-61FC-454F-072A30449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B7F7A-EFB6-EE4B-B48E-5A8531EFB82F}" type="datetimeFigureOut">
              <a:rPr lang="it-IT" smtClean="0"/>
              <a:t>30/08/26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328D05C-AF1F-EB10-0CDC-DA3D11074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0B39FBD-F2B1-21DD-12B4-D7AFE0308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2E8DE-57AA-FB46-A23B-E826A51B7A0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17238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131C8D-DC7E-26B7-4D35-A1D0B656C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0133A3C-2AD2-3644-BC35-B59C4FE53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A6D0C83-881B-AD39-851B-06838B71E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B7F7A-EFB6-EE4B-B48E-5A8531EFB82F}" type="datetimeFigureOut">
              <a:rPr lang="it-IT" smtClean="0"/>
              <a:t>30/08/26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F49E570-F71B-8A72-E49A-35152E8B0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A74D08C-07C5-2D51-0C59-4527D455D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2E8DE-57AA-FB46-A23B-E826A51B7A0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95855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9EB8C349-0A10-ECC3-AD12-75F5277531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9F5C23E-061D-88B4-A34C-BF4FE74E20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E5837BF-FA19-EFFE-0DF9-820EE6357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B7F7A-EFB6-EE4B-B48E-5A8531EFB82F}" type="datetimeFigureOut">
              <a:rPr lang="it-IT" smtClean="0"/>
              <a:t>30/08/26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1B9608-1B59-A3CF-CB5B-878057302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A180AEC-680A-B158-FC1E-D8CF633B6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2E8DE-57AA-FB46-A23B-E826A51B7A0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60352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4C51F7F7-EDFD-964F-C9E2-2A36908D2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6EC9258-64E3-4AA3-9B9B-9E8889F8CE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2DA8DC4-CF78-F90A-2BDB-34F769187B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3B7F7A-EFB6-EE4B-B48E-5A8531EFB82F}" type="datetimeFigureOut">
              <a:rPr lang="it-IT" smtClean="0"/>
              <a:t>30/08/26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4B30D13-6132-43CF-BD53-0BEDBAD81C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799718C-14CF-89F9-8612-909801126B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02E8DE-57AA-FB46-A23B-E826A51B7A0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3528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67E647-4E6E-5B69-192D-2DEC1B946E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3B19FF5-069E-9700-DD89-3D273152CB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09496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2D353D3-BDBE-0BED-F139-BAF9A9B5E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Obiettivo progetto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228AA1AC-6C1D-4FFD-1719-AA76F4FD3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altLang="it-IT" dirty="0">
                <a:solidFill>
                  <a:srgbClr val="000000"/>
                </a:solidFill>
              </a:rPr>
              <a:t>Il progetto prevede lo sviluppo di un </a:t>
            </a:r>
            <a:r>
              <a:rPr lang="it-IT" altLang="it-IT" b="1" dirty="0">
                <a:solidFill>
                  <a:srgbClr val="000000"/>
                </a:solidFill>
              </a:rPr>
              <a:t>sistema agentico </a:t>
            </a:r>
            <a:r>
              <a:rPr lang="it-IT" altLang="it-IT" dirty="0">
                <a:solidFill>
                  <a:srgbClr val="000000"/>
                </a:solidFill>
              </a:rPr>
              <a:t>basato su </a:t>
            </a:r>
            <a:r>
              <a:rPr lang="it-IT" altLang="it-IT" b="1" dirty="0">
                <a:solidFill>
                  <a:srgbClr val="000000"/>
                </a:solidFill>
              </a:rPr>
              <a:t>Agno</a:t>
            </a:r>
            <a:r>
              <a:rPr lang="it-IT" altLang="it-IT" dirty="0">
                <a:solidFill>
                  <a:srgbClr val="000000"/>
                </a:solidFill>
              </a:rPr>
              <a:t> in grado di operare come un vero e proprio motore creativo e decisionale per il cinema.</a:t>
            </a:r>
            <a:endParaRPr lang="it-IT" altLang="it-IT" dirty="0"/>
          </a:p>
          <a:p>
            <a:pPr marL="0" indent="0">
              <a:buNone/>
            </a:pPr>
            <a:r>
              <a:rPr lang="it-IT" altLang="it-IT" dirty="0">
                <a:solidFill>
                  <a:srgbClr val="000000"/>
                </a:solidFill>
              </a:rPr>
              <a:t>L'obiettivo è dotare un sistema AI della capacità di navigare simultaneamente la </a:t>
            </a:r>
            <a:r>
              <a:rPr lang="it-IT" altLang="it-IT" b="1" dirty="0">
                <a:solidFill>
                  <a:srgbClr val="000000"/>
                </a:solidFill>
              </a:rPr>
              <a:t>topologia di un grafo</a:t>
            </a:r>
            <a:r>
              <a:rPr lang="it-IT" altLang="it-IT" dirty="0">
                <a:solidFill>
                  <a:srgbClr val="000000"/>
                </a:solidFill>
              </a:rPr>
              <a:t> (tramite </a:t>
            </a:r>
            <a:r>
              <a:rPr lang="it-IT" altLang="it-IT" b="1" dirty="0">
                <a:solidFill>
                  <a:srgbClr val="000000"/>
                </a:solidFill>
              </a:rPr>
              <a:t>Neo4j</a:t>
            </a:r>
            <a:r>
              <a:rPr lang="it-IT" altLang="it-IT" dirty="0">
                <a:solidFill>
                  <a:srgbClr val="000000"/>
                </a:solidFill>
              </a:rPr>
              <a:t>) e lo </a:t>
            </a:r>
            <a:r>
              <a:rPr lang="it-IT" altLang="it-IT" b="1" dirty="0">
                <a:solidFill>
                  <a:srgbClr val="000000"/>
                </a:solidFill>
              </a:rPr>
              <a:t>spazio vettoriale delle trame</a:t>
            </a:r>
            <a:r>
              <a:rPr lang="it-IT" altLang="it-IT" dirty="0">
                <a:solidFill>
                  <a:srgbClr val="000000"/>
                </a:solidFill>
              </a:rPr>
              <a:t> </a:t>
            </a:r>
            <a:r>
              <a:rPr lang="it-IT" altLang="it-IT" b="1" dirty="0">
                <a:solidFill>
                  <a:srgbClr val="000000"/>
                </a:solidFill>
              </a:rPr>
              <a:t>e delle biografie </a:t>
            </a:r>
            <a:r>
              <a:rPr lang="it-IT" altLang="it-IT" dirty="0">
                <a:solidFill>
                  <a:srgbClr val="000000"/>
                </a:solidFill>
              </a:rPr>
              <a:t>(tramite </a:t>
            </a:r>
            <a:r>
              <a:rPr lang="it-IT" altLang="it-IT" b="1" dirty="0">
                <a:solidFill>
                  <a:srgbClr val="000000"/>
                </a:solidFill>
              </a:rPr>
              <a:t>ChromaDB</a:t>
            </a:r>
            <a:r>
              <a:rPr lang="it-IT" altLang="it-IT" dirty="0">
                <a:solidFill>
                  <a:srgbClr val="000000"/>
                </a:solidFill>
              </a:rPr>
              <a:t>). Questa doppia consapevolezza permette all'agente di eseguire compiti di ragionamento complesso, passando dal recupero fattuale alla </a:t>
            </a:r>
            <a:r>
              <a:rPr lang="it-IT" altLang="it-IT" b="1" dirty="0">
                <a:solidFill>
                  <a:srgbClr val="000000"/>
                </a:solidFill>
              </a:rPr>
              <a:t>generazione predittiva</a:t>
            </a:r>
            <a:r>
              <a:rPr lang="it-IT" altLang="it-IT" dirty="0">
                <a:solidFill>
                  <a:srgbClr val="000000"/>
                </a:solidFill>
              </a:rPr>
              <a:t>: dalla deduzione del miglior regista per una sceneggiatura, alla creazione di nuovi concept cinematografici basati sulle relazioni storiche del cast.</a:t>
            </a:r>
            <a:endParaRPr lang="it-IT" altLang="it-IT" dirty="0"/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3873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57DAA-812D-0CBB-7305-75C3CF023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7329C84-90BB-1068-BF4B-1E39C22BD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Ingestion</a:t>
            </a:r>
          </a:p>
        </p:txBody>
      </p:sp>
      <p:sp>
        <p:nvSpPr>
          <p:cNvPr id="8" name="Segnaposto contenuto 4">
            <a:extLst>
              <a:ext uri="{FF2B5EF4-FFF2-40B4-BE49-F238E27FC236}">
                <a16:creationId xmlns:a16="http://schemas.microsoft.com/office/drawing/2014/main" id="{F0349056-3AD1-500F-4D55-1F0443AD8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85615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2000" dirty="0">
                <a:solidFill>
                  <a:srgbClr val="000000"/>
                </a:solidFill>
              </a:rPr>
              <a:t>Il processo di ingestion dei dati non si basa su una singola fonte.</a:t>
            </a:r>
          </a:p>
          <a:p>
            <a:pPr>
              <a:buNone/>
            </a:pPr>
            <a:r>
              <a:rPr lang="it-IT" sz="2000" dirty="0"/>
              <a:t>Dal dataset </a:t>
            </a:r>
            <a:r>
              <a:rPr lang="it-IT" sz="2000" b="1" dirty="0"/>
              <a:t>Kaggle</a:t>
            </a:r>
            <a:r>
              <a:rPr lang="it-IT" sz="2000" dirty="0"/>
              <a:t> (</a:t>
            </a:r>
            <a:r>
              <a:rPr lang="it-IT" sz="2000" b="1" dirty="0"/>
              <a:t>TMDB 5000 Movies &amp; Credits</a:t>
            </a:r>
            <a:r>
              <a:rPr lang="it-IT" sz="2000" dirty="0"/>
              <a:t>) i dati relativi ai </a:t>
            </a:r>
            <a:r>
              <a:rPr lang="it-IT" sz="2000" b="1" dirty="0"/>
              <a:t>Film</a:t>
            </a:r>
            <a:r>
              <a:rPr lang="it-IT" sz="2000" dirty="0"/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t-IT" altLang="it-IT" sz="2000" b="1" dirty="0">
                <a:solidFill>
                  <a:srgbClr val="000000"/>
                </a:solidFill>
              </a:rPr>
              <a:t>Titolo</a:t>
            </a:r>
            <a:r>
              <a:rPr lang="it-IT" altLang="it-IT" sz="2000" dirty="0">
                <a:solidFill>
                  <a:srgbClr val="000000"/>
                </a:solidFill>
              </a:rPr>
              <a:t> del film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t-IT" altLang="it-IT" sz="2000" b="1" dirty="0">
                <a:solidFill>
                  <a:srgbClr val="000000"/>
                </a:solidFill>
              </a:rPr>
              <a:t>Anno</a:t>
            </a:r>
            <a:r>
              <a:rPr lang="it-IT" altLang="it-IT" sz="2000" dirty="0">
                <a:solidFill>
                  <a:srgbClr val="000000"/>
                </a:solidFill>
              </a:rPr>
              <a:t> di uscita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t-IT" altLang="it-IT" sz="2000" b="1" dirty="0">
                <a:solidFill>
                  <a:srgbClr val="000000"/>
                </a:solidFill>
              </a:rPr>
              <a:t>Trama</a:t>
            </a:r>
            <a:r>
              <a:rPr lang="it-IT" altLang="it-IT" sz="2000" dirty="0">
                <a:solidFill>
                  <a:srgbClr val="000000"/>
                </a:solidFill>
              </a:rPr>
              <a:t> 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t-IT" altLang="it-IT" sz="2000" b="1" dirty="0">
                <a:solidFill>
                  <a:srgbClr val="000000"/>
                </a:solidFill>
              </a:rPr>
              <a:t>Generi</a:t>
            </a:r>
            <a:r>
              <a:rPr lang="it-IT" altLang="it-IT" sz="2000" dirty="0">
                <a:solidFill>
                  <a:srgbClr val="000000"/>
                </a:solidFill>
              </a:rPr>
              <a:t> di appartenenza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t-IT" altLang="it-IT" sz="2000" b="1" dirty="0">
                <a:solidFill>
                  <a:srgbClr val="000000"/>
                </a:solidFill>
              </a:rPr>
              <a:t>Regista</a:t>
            </a:r>
            <a:endParaRPr lang="it-IT" altLang="it-IT" sz="2000" dirty="0">
              <a:solidFill>
                <a:srgbClr val="000000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t-IT" altLang="it-IT" sz="2000" b="1" dirty="0">
                <a:solidFill>
                  <a:srgbClr val="000000"/>
                </a:solidFill>
              </a:rPr>
              <a:t>Attori principali</a:t>
            </a:r>
            <a:r>
              <a:rPr lang="it-IT" altLang="it-IT" sz="2000" dirty="0">
                <a:solidFill>
                  <a:srgbClr val="000000"/>
                </a:solidFill>
              </a:rPr>
              <a:t> (Top 5 del cast per film)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it-IT" altLang="it-IT" sz="2000" dirty="0">
              <a:solidFill>
                <a:srgbClr val="000000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it-IT" sz="2000" dirty="0"/>
              <a:t>Dalle </a:t>
            </a:r>
            <a:r>
              <a:rPr lang="it-IT" sz="2000" b="1" dirty="0"/>
              <a:t>API ufficiali TMDB </a:t>
            </a:r>
            <a:r>
              <a:rPr lang="it-IT" sz="2000" dirty="0"/>
              <a:t>i dati relativi agli </a:t>
            </a:r>
            <a:r>
              <a:rPr lang="it-IT" sz="2000" b="1" dirty="0"/>
              <a:t>attori </a:t>
            </a:r>
            <a:r>
              <a:rPr lang="it-IT" sz="2000" dirty="0"/>
              <a:t>e</a:t>
            </a:r>
            <a:r>
              <a:rPr lang="it-IT" sz="2000" b="1" dirty="0"/>
              <a:t> registi</a:t>
            </a:r>
            <a:r>
              <a:rPr lang="it-IT" sz="2000" dirty="0"/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t-IT" altLang="it-IT" sz="2000" b="1" dirty="0">
                <a:solidFill>
                  <a:srgbClr val="000000"/>
                </a:solidFill>
              </a:rPr>
              <a:t>Biografia</a:t>
            </a:r>
            <a:r>
              <a:rPr lang="it-IT" altLang="it-IT" sz="2000" dirty="0">
                <a:solidFill>
                  <a:srgbClr val="000000"/>
                </a:solidFill>
              </a:rPr>
              <a:t> completa di attori e registi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t-IT" altLang="it-IT" sz="2000" b="1" dirty="0">
                <a:solidFill>
                  <a:srgbClr val="000000"/>
                </a:solidFill>
              </a:rPr>
              <a:t>Data di nascita</a:t>
            </a:r>
            <a:endParaRPr lang="it-IT" altLang="it-IT" sz="2000" dirty="0">
              <a:solidFill>
                <a:srgbClr val="000000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t-IT" altLang="it-IT" sz="2000" b="1" dirty="0">
                <a:solidFill>
                  <a:srgbClr val="000000"/>
                </a:solidFill>
              </a:rPr>
              <a:t>Luogo di nascita</a:t>
            </a:r>
            <a:endParaRPr lang="it-IT" altLang="it-IT" sz="20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it-IT" sz="20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it-IT" sz="20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it-IT" altLang="it-IT" sz="2000" dirty="0"/>
          </a:p>
          <a:p>
            <a:pPr>
              <a:buNone/>
            </a:pPr>
            <a:endParaRPr lang="it-IT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5639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E6C41-8F5F-FD21-616F-D3E923ED3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65839E2-8CA1-B465-DE43-1301975DD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Embedding</a:t>
            </a:r>
          </a:p>
        </p:txBody>
      </p:sp>
      <p:sp>
        <p:nvSpPr>
          <p:cNvPr id="8" name="Segnaposto contenuto 4">
            <a:extLst>
              <a:ext uri="{FF2B5EF4-FFF2-40B4-BE49-F238E27FC236}">
                <a16:creationId xmlns:a16="http://schemas.microsoft.com/office/drawing/2014/main" id="{C2F14399-B1C5-CF98-D1CE-52E5A565B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85615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2000" dirty="0">
                <a:solidFill>
                  <a:srgbClr val="000000"/>
                </a:solidFill>
              </a:rPr>
              <a:t>Realizzato su più giorni.</a:t>
            </a:r>
            <a:endParaRPr lang="it-IT" altLang="it-IT" sz="20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it-IT" sz="20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it-IT" sz="20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it-IT" altLang="it-IT" sz="2000" dirty="0"/>
          </a:p>
          <a:p>
            <a:pPr>
              <a:buNone/>
            </a:pPr>
            <a:endParaRPr lang="it-IT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418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2A89DF-BA65-EDD0-7164-E30C20B89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Grafo Neo4J</a:t>
            </a:r>
          </a:p>
        </p:txBody>
      </p:sp>
      <p:pic>
        <p:nvPicPr>
          <p:cNvPr id="7" name="Immagine 6" descr="Immagine che contiene cerchio, schermata, Simmetria, luce&#10;&#10;Il contenuto generato dall'IA potrebbe non essere corretto.">
            <a:extLst>
              <a:ext uri="{FF2B5EF4-FFF2-40B4-BE49-F238E27FC236}">
                <a16:creationId xmlns:a16="http://schemas.microsoft.com/office/drawing/2014/main" id="{C98A7BA4-B960-9ADC-CA51-52B26E6EDE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661" t="19613" r="23571" b="13031"/>
          <a:stretch>
            <a:fillRect/>
          </a:stretch>
        </p:blipFill>
        <p:spPr>
          <a:xfrm>
            <a:off x="247357" y="2178516"/>
            <a:ext cx="3094976" cy="285317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C027786C-3DE2-372A-552C-3258384A7B0D}"/>
              </a:ext>
            </a:extLst>
          </p:cNvPr>
          <p:cNvSpPr txBox="1"/>
          <p:nvPr/>
        </p:nvSpPr>
        <p:spPr>
          <a:xfrm>
            <a:off x="1162139" y="1809184"/>
            <a:ext cx="1265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DIRECTED</a:t>
            </a:r>
          </a:p>
        </p:txBody>
      </p:sp>
      <p:pic>
        <p:nvPicPr>
          <p:cNvPr id="10" name="Immagine 9" descr="Immagine che contiene cerchio, Simmetria, luce&#10;&#10;Il contenuto generato dall'IA potrebbe non essere corretto.">
            <a:extLst>
              <a:ext uri="{FF2B5EF4-FFF2-40B4-BE49-F238E27FC236}">
                <a16:creationId xmlns:a16="http://schemas.microsoft.com/office/drawing/2014/main" id="{95A9203E-A5BA-C40C-0968-6000E81F41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07" t="12662" r="4437" b="12377"/>
          <a:stretch>
            <a:fillRect/>
          </a:stretch>
        </p:blipFill>
        <p:spPr>
          <a:xfrm>
            <a:off x="3531999" y="2172619"/>
            <a:ext cx="5317670" cy="288040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14F7835-2AC8-EE9E-D030-7C1CA7D9D3E2}"/>
              </a:ext>
            </a:extLst>
          </p:cNvPr>
          <p:cNvSpPr txBox="1"/>
          <p:nvPr/>
        </p:nvSpPr>
        <p:spPr>
          <a:xfrm>
            <a:off x="5478106" y="1803287"/>
            <a:ext cx="1235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ACTED_IN</a:t>
            </a:r>
          </a:p>
        </p:txBody>
      </p:sp>
      <p:pic>
        <p:nvPicPr>
          <p:cNvPr id="13" name="Immagine 12" descr="Immagine che contiene cerchio, luce&#10;&#10;Il contenuto generato dall'IA potrebbe non essere corretto.">
            <a:extLst>
              <a:ext uri="{FF2B5EF4-FFF2-40B4-BE49-F238E27FC236}">
                <a16:creationId xmlns:a16="http://schemas.microsoft.com/office/drawing/2014/main" id="{8F65B998-D360-BE96-61A6-4FA9B7CE7F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323" t="2783" r="16519" b="4761"/>
          <a:stretch>
            <a:fillRect/>
          </a:stretch>
        </p:blipFill>
        <p:spPr>
          <a:xfrm>
            <a:off x="9039336" y="2172619"/>
            <a:ext cx="2905308" cy="288040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68ADE716-9253-CCF1-DC2D-CA1981B930E2}"/>
              </a:ext>
            </a:extLst>
          </p:cNvPr>
          <p:cNvSpPr txBox="1"/>
          <p:nvPr/>
        </p:nvSpPr>
        <p:spPr>
          <a:xfrm>
            <a:off x="9874096" y="1803287"/>
            <a:ext cx="1482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HAS_GENRE</a:t>
            </a:r>
          </a:p>
        </p:txBody>
      </p:sp>
      <p:graphicFrame>
        <p:nvGraphicFramePr>
          <p:cNvPr id="16" name="Tabella 15">
            <a:extLst>
              <a:ext uri="{FF2B5EF4-FFF2-40B4-BE49-F238E27FC236}">
                <a16:creationId xmlns:a16="http://schemas.microsoft.com/office/drawing/2014/main" id="{F89AEACC-0688-EC15-D824-9A008D49D3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7336229"/>
              </p:ext>
            </p:extLst>
          </p:nvPr>
        </p:nvGraphicFramePr>
        <p:xfrm>
          <a:off x="2649894" y="5368990"/>
          <a:ext cx="4137408" cy="43340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16243">
                  <a:extLst>
                    <a:ext uri="{9D8B030D-6E8A-4147-A177-3AD203B41FA5}">
                      <a16:colId xmlns:a16="http://schemas.microsoft.com/office/drawing/2014/main" val="1235172088"/>
                    </a:ext>
                  </a:extLst>
                </a:gridCol>
                <a:gridCol w="859092">
                  <a:extLst>
                    <a:ext uri="{9D8B030D-6E8A-4147-A177-3AD203B41FA5}">
                      <a16:colId xmlns:a16="http://schemas.microsoft.com/office/drawing/2014/main" val="1535081918"/>
                    </a:ext>
                  </a:extLst>
                </a:gridCol>
                <a:gridCol w="778193">
                  <a:extLst>
                    <a:ext uri="{9D8B030D-6E8A-4147-A177-3AD203B41FA5}">
                      <a16:colId xmlns:a16="http://schemas.microsoft.com/office/drawing/2014/main" val="2703109768"/>
                    </a:ext>
                  </a:extLst>
                </a:gridCol>
                <a:gridCol w="842455">
                  <a:extLst>
                    <a:ext uri="{9D8B030D-6E8A-4147-A177-3AD203B41FA5}">
                      <a16:colId xmlns:a16="http://schemas.microsoft.com/office/drawing/2014/main" val="2398081446"/>
                    </a:ext>
                  </a:extLst>
                </a:gridCol>
                <a:gridCol w="1241425">
                  <a:extLst>
                    <a:ext uri="{9D8B030D-6E8A-4147-A177-3AD203B41FA5}">
                      <a16:colId xmlns:a16="http://schemas.microsoft.com/office/drawing/2014/main" val="3822750242"/>
                    </a:ext>
                  </a:extLst>
                </a:gridCol>
              </a:tblGrid>
              <a:tr h="433405">
                <a:tc>
                  <a:txBody>
                    <a:bodyPr/>
                    <a:lstStyle/>
                    <a:p>
                      <a:r>
                        <a:rPr lang="it-IT" sz="1600" dirty="0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TITOLO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ANNO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TRAMA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VECTOR_ID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980640"/>
                  </a:ext>
                </a:extLst>
              </a:tr>
            </a:tbl>
          </a:graphicData>
        </a:graphic>
      </p:graphicFrame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B0C2BBAB-A9D3-AE66-BDD8-BB239564715E}"/>
              </a:ext>
            </a:extLst>
          </p:cNvPr>
          <p:cNvSpPr txBox="1"/>
          <p:nvPr/>
        </p:nvSpPr>
        <p:spPr>
          <a:xfrm>
            <a:off x="247356" y="5401027"/>
            <a:ext cx="1519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Per ogni </a:t>
            </a:r>
            <a:r>
              <a:rPr lang="it-IT" b="1" dirty="0"/>
              <a:t>FILM</a:t>
            </a:r>
          </a:p>
        </p:txBody>
      </p:sp>
      <p:cxnSp>
        <p:nvCxnSpPr>
          <p:cNvPr id="19" name="Connettore diritto a freccia 18">
            <a:extLst>
              <a:ext uri="{FF2B5EF4-FFF2-40B4-BE49-F238E27FC236}">
                <a16:creationId xmlns:a16="http://schemas.microsoft.com/office/drawing/2014/main" id="{F42D808F-013D-D67D-A17C-572FA0ED931A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1766683" y="5585693"/>
            <a:ext cx="73267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58261475-9127-5E54-276D-FB83F01E9875}"/>
              </a:ext>
            </a:extLst>
          </p:cNvPr>
          <p:cNvSpPr txBox="1"/>
          <p:nvPr/>
        </p:nvSpPr>
        <p:spPr>
          <a:xfrm>
            <a:off x="275517" y="6123543"/>
            <a:ext cx="3891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Per ogni </a:t>
            </a:r>
            <a:r>
              <a:rPr lang="it-IT" b="1" dirty="0"/>
              <a:t>PERSONA </a:t>
            </a:r>
            <a:r>
              <a:rPr lang="it-IT" dirty="0"/>
              <a:t>(</a:t>
            </a:r>
            <a:r>
              <a:rPr lang="it-IT" b="1" dirty="0"/>
              <a:t>Attore </a:t>
            </a:r>
            <a:r>
              <a:rPr lang="it-IT" dirty="0"/>
              <a:t>o</a:t>
            </a:r>
            <a:r>
              <a:rPr lang="it-IT" b="1" dirty="0"/>
              <a:t> Regista</a:t>
            </a:r>
            <a:r>
              <a:rPr lang="it-IT" dirty="0"/>
              <a:t>)</a:t>
            </a:r>
          </a:p>
        </p:txBody>
      </p:sp>
      <p:cxnSp>
        <p:nvCxnSpPr>
          <p:cNvPr id="25" name="Connettore diritto a freccia 24">
            <a:extLst>
              <a:ext uri="{FF2B5EF4-FFF2-40B4-BE49-F238E27FC236}">
                <a16:creationId xmlns:a16="http://schemas.microsoft.com/office/drawing/2014/main" id="{8368AC99-F506-E4DD-E637-6B6982B85119}"/>
              </a:ext>
            </a:extLst>
          </p:cNvPr>
          <p:cNvCxnSpPr>
            <a:cxnSpLocks/>
          </p:cNvCxnSpPr>
          <p:nvPr/>
        </p:nvCxnSpPr>
        <p:spPr>
          <a:xfrm>
            <a:off x="4166967" y="6309179"/>
            <a:ext cx="31359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CA1DDE51-EF16-1BB0-B51B-0A0FC6873C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4059911"/>
              </p:ext>
            </p:extLst>
          </p:nvPr>
        </p:nvGraphicFramePr>
        <p:xfrm>
          <a:off x="4585881" y="6118361"/>
          <a:ext cx="7358763" cy="43340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44818">
                  <a:extLst>
                    <a:ext uri="{9D8B030D-6E8A-4147-A177-3AD203B41FA5}">
                      <a16:colId xmlns:a16="http://schemas.microsoft.com/office/drawing/2014/main" val="1235172088"/>
                    </a:ext>
                  </a:extLst>
                </a:gridCol>
                <a:gridCol w="865505">
                  <a:extLst>
                    <a:ext uri="{9D8B030D-6E8A-4147-A177-3AD203B41FA5}">
                      <a16:colId xmlns:a16="http://schemas.microsoft.com/office/drawing/2014/main" val="1535081918"/>
                    </a:ext>
                  </a:extLst>
                </a:gridCol>
                <a:gridCol w="1340866">
                  <a:extLst>
                    <a:ext uri="{9D8B030D-6E8A-4147-A177-3AD203B41FA5}">
                      <a16:colId xmlns:a16="http://schemas.microsoft.com/office/drawing/2014/main" val="2703109768"/>
                    </a:ext>
                  </a:extLst>
                </a:gridCol>
                <a:gridCol w="1727010">
                  <a:extLst>
                    <a:ext uri="{9D8B030D-6E8A-4147-A177-3AD203B41FA5}">
                      <a16:colId xmlns:a16="http://schemas.microsoft.com/office/drawing/2014/main" val="2398081446"/>
                    </a:ext>
                  </a:extLst>
                </a:gridCol>
                <a:gridCol w="1951546">
                  <a:extLst>
                    <a:ext uri="{9D8B030D-6E8A-4147-A177-3AD203B41FA5}">
                      <a16:colId xmlns:a16="http://schemas.microsoft.com/office/drawing/2014/main" val="3822750242"/>
                    </a:ext>
                  </a:extLst>
                </a:gridCol>
                <a:gridCol w="1029018">
                  <a:extLst>
                    <a:ext uri="{9D8B030D-6E8A-4147-A177-3AD203B41FA5}">
                      <a16:colId xmlns:a16="http://schemas.microsoft.com/office/drawing/2014/main" val="30106807"/>
                    </a:ext>
                  </a:extLst>
                </a:gridCol>
              </a:tblGrid>
              <a:tr h="433405">
                <a:tc>
                  <a:txBody>
                    <a:bodyPr/>
                    <a:lstStyle/>
                    <a:p>
                      <a:r>
                        <a:rPr lang="it-IT" sz="1600" dirty="0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NOME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BIOGRAFIA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DATA DI NASCITA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LUOGO DI NASCITA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TMDB_ID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9806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2243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1B865-E67D-C94A-115E-953A9730B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7ECD20-4100-1E78-46C5-DE92A2AED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4252493" cy="1131166"/>
          </a:xfrm>
        </p:spPr>
        <p:txBody>
          <a:bodyPr>
            <a:normAutofit/>
          </a:bodyPr>
          <a:lstStyle/>
          <a:p>
            <a:r>
              <a:rPr lang="it-IT" dirty="0"/>
              <a:t>Architettura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2FFD8CD-31DB-1828-583C-4198AF546DE9}"/>
              </a:ext>
            </a:extLst>
          </p:cNvPr>
          <p:cNvSpPr txBox="1"/>
          <p:nvPr/>
        </p:nvSpPr>
        <p:spPr>
          <a:xfrm>
            <a:off x="457325" y="3728371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USER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5669E93-4B4B-F751-F156-27455BABB925}"/>
              </a:ext>
            </a:extLst>
          </p:cNvPr>
          <p:cNvSpPr txBox="1"/>
          <p:nvPr/>
        </p:nvSpPr>
        <p:spPr>
          <a:xfrm>
            <a:off x="1479566" y="3579538"/>
            <a:ext cx="1079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PROMPT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992BA2D-66B8-65C8-A7A4-C65A4311B566}"/>
              </a:ext>
            </a:extLst>
          </p:cNvPr>
          <p:cNvSpPr txBox="1"/>
          <p:nvPr/>
        </p:nvSpPr>
        <p:spPr>
          <a:xfrm>
            <a:off x="5921786" y="3545137"/>
            <a:ext cx="608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sz="1600" dirty="0"/>
              <a:t>Riceve il prompt dell'utente, scompone il problema e interroga gli altri agenti. Infine, fonde le informazioni per generare risposte creative (es. nuove trame o casting).</a:t>
            </a:r>
            <a:endParaRPr lang="it-IT" altLang="it-IT" sz="1600" dirty="0"/>
          </a:p>
        </p:txBody>
      </p:sp>
      <p:cxnSp>
        <p:nvCxnSpPr>
          <p:cNvPr id="13" name="Connettore dritto 12">
            <a:extLst>
              <a:ext uri="{FF2B5EF4-FFF2-40B4-BE49-F238E27FC236}">
                <a16:creationId xmlns:a16="http://schemas.microsoft.com/office/drawing/2014/main" id="{FCAB2CAC-08AB-52D5-DE30-2FF059AE5A73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1219072" y="3913037"/>
            <a:ext cx="14889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diritto a freccia 26">
            <a:extLst>
              <a:ext uri="{FF2B5EF4-FFF2-40B4-BE49-F238E27FC236}">
                <a16:creationId xmlns:a16="http://schemas.microsoft.com/office/drawing/2014/main" id="{EC1F65AE-F754-B083-6D2A-9521AE46C0AF}"/>
              </a:ext>
            </a:extLst>
          </p:cNvPr>
          <p:cNvCxnSpPr>
            <a:cxnSpLocks/>
          </p:cNvCxnSpPr>
          <p:nvPr/>
        </p:nvCxnSpPr>
        <p:spPr>
          <a:xfrm>
            <a:off x="2693998" y="3913037"/>
            <a:ext cx="9859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ttangolo con angoli arrotondati 27">
            <a:extLst>
              <a:ext uri="{FF2B5EF4-FFF2-40B4-BE49-F238E27FC236}">
                <a16:creationId xmlns:a16="http://schemas.microsoft.com/office/drawing/2014/main" id="{B3377C86-9C06-B8CE-D375-7EBAB4B4713C}"/>
              </a:ext>
            </a:extLst>
          </p:cNvPr>
          <p:cNvSpPr/>
          <p:nvPr/>
        </p:nvSpPr>
        <p:spPr>
          <a:xfrm>
            <a:off x="3679902" y="1804069"/>
            <a:ext cx="2195665" cy="623449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chemeClr val="tx1"/>
                </a:solidFill>
              </a:rPr>
              <a:t>GRAPH QUERY AGENT</a:t>
            </a:r>
          </a:p>
        </p:txBody>
      </p:sp>
      <p:sp>
        <p:nvSpPr>
          <p:cNvPr id="29" name="Rettangolo con angoli arrotondati 28">
            <a:extLst>
              <a:ext uri="{FF2B5EF4-FFF2-40B4-BE49-F238E27FC236}">
                <a16:creationId xmlns:a16="http://schemas.microsoft.com/office/drawing/2014/main" id="{AE4D444C-5F01-336C-E812-6CA8B11FCB59}"/>
              </a:ext>
            </a:extLst>
          </p:cNvPr>
          <p:cNvSpPr/>
          <p:nvPr/>
        </p:nvSpPr>
        <p:spPr>
          <a:xfrm>
            <a:off x="3679902" y="5355432"/>
            <a:ext cx="2195665" cy="62344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chemeClr val="tx1"/>
                </a:solidFill>
              </a:rPr>
              <a:t>SEMANTIC QUERY AGENT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DE1DACE-A8A4-A919-75EB-EC631C70CEEA}"/>
              </a:ext>
            </a:extLst>
          </p:cNvPr>
          <p:cNvSpPr txBox="1"/>
          <p:nvPr/>
        </p:nvSpPr>
        <p:spPr>
          <a:xfrm>
            <a:off x="5921787" y="4318324"/>
            <a:ext cx="383365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00000"/>
                </a:solidFill>
                <a:effectLst/>
              </a:rPr>
              <a:t>Team(mode=TeamMode.coordinate)</a:t>
            </a:r>
            <a:endParaRPr lang="it-IT" dirty="0"/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61BCB657-CB20-D639-484F-0ECB4D76783C}"/>
              </a:ext>
            </a:extLst>
          </p:cNvPr>
          <p:cNvSpPr/>
          <p:nvPr/>
        </p:nvSpPr>
        <p:spPr>
          <a:xfrm>
            <a:off x="3693935" y="3577524"/>
            <a:ext cx="2195665" cy="62344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chemeClr val="tx1"/>
                </a:solidFill>
              </a:rPr>
              <a:t>CREATIVE AGENT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AEA3924A-1C8B-86A4-A3E2-32988EEA8AD4}"/>
              </a:ext>
            </a:extLst>
          </p:cNvPr>
          <p:cNvSpPr txBox="1"/>
          <p:nvPr/>
        </p:nvSpPr>
        <p:spPr>
          <a:xfrm>
            <a:off x="4003737" y="3280184"/>
            <a:ext cx="15383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/>
              <a:t>COORDINATORE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221DD55B-F1E9-624D-B92F-25CC513CBE93}"/>
              </a:ext>
            </a:extLst>
          </p:cNvPr>
          <p:cNvSpPr txBox="1"/>
          <p:nvPr/>
        </p:nvSpPr>
        <p:spPr>
          <a:xfrm>
            <a:off x="4295621" y="1496292"/>
            <a:ext cx="9265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/>
              <a:t>WORKER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854FD36D-6052-56AE-C76C-210088B453E2}"/>
              </a:ext>
            </a:extLst>
          </p:cNvPr>
          <p:cNvSpPr txBox="1"/>
          <p:nvPr/>
        </p:nvSpPr>
        <p:spPr>
          <a:xfrm>
            <a:off x="4317009" y="5039984"/>
            <a:ext cx="9265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/>
              <a:t>WORKER</a:t>
            </a: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2CA99D29-B002-906A-694A-C7A25ED96B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1786" y="1804069"/>
            <a:ext cx="6083401" cy="830997"/>
          </a:xfrm>
          <a:prstGeom prst="rect">
            <a:avLst/>
          </a:prstGeom>
          <a:noFill/>
          <a:ln w="9525">
            <a:solidFill>
              <a:schemeClr val="tx1"/>
            </a:solidFill>
            <a:prstDash val="sys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È l'esperto di Network Science. Comunica esclusivamente con il grafo </a:t>
            </a:r>
            <a:r>
              <a:rPr kumimoji="0" lang="it-IT" altLang="it-IT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Neo4j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tramite query Cypher, estraendo relazioni topologiche, statistiche e ricorrenze storiche tra attori, registi e generi.</a:t>
            </a:r>
            <a:endParaRPr kumimoji="0" lang="it-IT" altLang="it-IT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E7B48B85-E5E5-AAFB-DCCA-03053ACA1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1786" y="5347761"/>
            <a:ext cx="6083399" cy="830997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È lo specialista del database vettoriale. Utilizza strumenti dedicati per interrogare </a:t>
            </a:r>
            <a:r>
              <a:rPr kumimoji="0" lang="it-IT" altLang="it-IT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ChromaDB</a:t>
            </a:r>
            <a:r>
              <a:rPr kumimoji="0" lang="it-IT" altLang="it-IT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, recuperando trame, atmosfere testuali e biografie basate sulla somiglianza semantica.</a:t>
            </a:r>
            <a:endParaRPr kumimoji="0" lang="it-IT" altLang="it-IT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cxnSp>
        <p:nvCxnSpPr>
          <p:cNvPr id="51" name="Connettore diritto a freccia 50">
            <a:extLst>
              <a:ext uri="{FF2B5EF4-FFF2-40B4-BE49-F238E27FC236}">
                <a16:creationId xmlns:a16="http://schemas.microsoft.com/office/drawing/2014/main" id="{CF6AC92C-1D45-6DCA-51E9-C8623F503625}"/>
              </a:ext>
            </a:extLst>
          </p:cNvPr>
          <p:cNvCxnSpPr>
            <a:stCxn id="21" idx="0"/>
          </p:cNvCxnSpPr>
          <p:nvPr/>
        </p:nvCxnSpPr>
        <p:spPr>
          <a:xfrm flipV="1">
            <a:off x="4772922" y="2593298"/>
            <a:ext cx="0" cy="686886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ttore diritto a freccia 51">
            <a:extLst>
              <a:ext uri="{FF2B5EF4-FFF2-40B4-BE49-F238E27FC236}">
                <a16:creationId xmlns:a16="http://schemas.microsoft.com/office/drawing/2014/main" id="{0F0C3041-B99E-E74F-2EFC-B50DEDFDD0A7}"/>
              </a:ext>
            </a:extLst>
          </p:cNvPr>
          <p:cNvCxnSpPr>
            <a:cxnSpLocks/>
            <a:stCxn id="23" idx="0"/>
          </p:cNvCxnSpPr>
          <p:nvPr/>
        </p:nvCxnSpPr>
        <p:spPr>
          <a:xfrm flipH="1" flipV="1">
            <a:off x="4772922" y="4318324"/>
            <a:ext cx="7355" cy="72166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3074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8402EB63-92CE-B04E-8FEA-42ADFD67C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7881258" cy="1131166"/>
          </a:xfrm>
        </p:spPr>
        <p:txBody>
          <a:bodyPr>
            <a:normAutofit/>
          </a:bodyPr>
          <a:lstStyle/>
          <a:p>
            <a:r>
              <a:rPr lang="it-IT" dirty="0"/>
              <a:t>Graph Query Agent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AE8E47D-6EFA-E84F-B6C0-6E10CE3A1E83}"/>
              </a:ext>
            </a:extLst>
          </p:cNvPr>
          <p:cNvSpPr txBox="1"/>
          <p:nvPr/>
        </p:nvSpPr>
        <p:spPr>
          <a:xfrm>
            <a:off x="720039" y="1683778"/>
            <a:ext cx="24833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it-IT" b="1" dirty="0"/>
              <a:t>cerca_film_per_attore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519BA24-839E-9F0E-7051-0352A9CDD8DB}"/>
              </a:ext>
            </a:extLst>
          </p:cNvPr>
          <p:cNvSpPr txBox="1"/>
          <p:nvPr/>
        </p:nvSpPr>
        <p:spPr>
          <a:xfrm>
            <a:off x="6589808" y="1683778"/>
            <a:ext cx="246503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it-IT" b="1" dirty="0"/>
              <a:t>cerca_film_con_attori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080CD9C-0E16-44BC-F852-9CEBCC7CAD69}"/>
              </a:ext>
            </a:extLst>
          </p:cNvPr>
          <p:cNvSpPr txBox="1"/>
          <p:nvPr/>
        </p:nvSpPr>
        <p:spPr>
          <a:xfrm>
            <a:off x="308988" y="6169708"/>
            <a:ext cx="11414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Questi sono tutti </a:t>
            </a:r>
            <a:r>
              <a:rPr lang="it-IT" b="1" dirty="0"/>
              <a:t>tools</a:t>
            </a:r>
            <a:r>
              <a:rPr lang="it-IT" dirty="0"/>
              <a:t> per istruire l’agente worker </a:t>
            </a:r>
            <a:r>
              <a:rPr lang="it-IT" b="1" dirty="0"/>
              <a:t>Graph Query Agent </a:t>
            </a:r>
            <a:r>
              <a:rPr lang="it-IT" dirty="0"/>
              <a:t>a realizzare </a:t>
            </a:r>
            <a:r>
              <a:rPr lang="it-IT" b="1" dirty="0"/>
              <a:t>query sul DB Neo4j </a:t>
            </a:r>
            <a:r>
              <a:rPr lang="it-IT" dirty="0"/>
              <a:t>tramite linguaggio </a:t>
            </a:r>
            <a:r>
              <a:rPr lang="it-IT" b="1" dirty="0"/>
              <a:t>Cypher</a:t>
            </a:r>
            <a:r>
              <a:rPr lang="it-IT" dirty="0"/>
              <a:t>.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0E1EE80-3F7C-60A9-744B-6990E1F21D9C}"/>
              </a:ext>
            </a:extLst>
          </p:cNvPr>
          <p:cNvSpPr txBox="1"/>
          <p:nvPr/>
        </p:nvSpPr>
        <p:spPr>
          <a:xfrm>
            <a:off x="720039" y="3141802"/>
            <a:ext cx="256865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it-IT" b="1" dirty="0"/>
              <a:t>cerca_film_per_regista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2849110-183C-E719-A362-A7EFE65C02F7}"/>
              </a:ext>
            </a:extLst>
          </p:cNvPr>
          <p:cNvSpPr txBox="1"/>
          <p:nvPr/>
        </p:nvSpPr>
        <p:spPr>
          <a:xfrm>
            <a:off x="6573217" y="3137469"/>
            <a:ext cx="343151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it-IT" b="1" dirty="0"/>
              <a:t>collaboratori_frequenti_regista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4463EDB-2DF7-88C0-F629-AFA4C0127C30}"/>
              </a:ext>
            </a:extLst>
          </p:cNvPr>
          <p:cNvSpPr txBox="1"/>
          <p:nvPr/>
        </p:nvSpPr>
        <p:spPr>
          <a:xfrm>
            <a:off x="720039" y="4595493"/>
            <a:ext cx="258025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it-IT" b="1" dirty="0"/>
              <a:t>conta_film_per_genere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4ECE97D-43A5-14C6-939B-32E02718942D}"/>
              </a:ext>
            </a:extLst>
          </p:cNvPr>
          <p:cNvSpPr txBox="1"/>
          <p:nvPr/>
        </p:nvSpPr>
        <p:spPr>
          <a:xfrm>
            <a:off x="6589808" y="4595493"/>
            <a:ext cx="280942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it-IT" b="1" dirty="0"/>
              <a:t>trova_attori_per_network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ADD90830-B0B4-7D0D-776D-6F9DD93F5007}"/>
              </a:ext>
            </a:extLst>
          </p:cNvPr>
          <p:cNvSpPr txBox="1"/>
          <p:nvPr/>
        </p:nvSpPr>
        <p:spPr>
          <a:xfrm>
            <a:off x="468789" y="2155464"/>
            <a:ext cx="4900151" cy="47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it-IT" b="0" dirty="0">
                <a:effectLst/>
              </a:rPr>
              <a:t>Trova tutti i film in cui ha recitato un attore, con anno, regista e generi.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3523DF14-B093-9F17-8A60-EDA222B4F99E}"/>
              </a:ext>
            </a:extLst>
          </p:cNvPr>
          <p:cNvSpPr txBox="1"/>
          <p:nvPr/>
        </p:nvSpPr>
        <p:spPr>
          <a:xfrm>
            <a:off x="6305552" y="2155464"/>
            <a:ext cx="5417660" cy="47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it-IT" b="0" dirty="0">
                <a:effectLst/>
              </a:rPr>
              <a:t>Trova i film in cui hanno recitato insieme tutti gli attori indicati nella lista.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9AEC974B-C416-2473-415F-DF4089CC5814}"/>
              </a:ext>
            </a:extLst>
          </p:cNvPr>
          <p:cNvSpPr txBox="1"/>
          <p:nvPr/>
        </p:nvSpPr>
        <p:spPr>
          <a:xfrm>
            <a:off x="468789" y="3654596"/>
            <a:ext cx="4900152" cy="47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it-IT" b="0" dirty="0">
                <a:effectLst/>
              </a:rPr>
              <a:t>Trova tutti i film diretti da un regista, con anno, attori principali e generi.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DB448D2F-C083-94AF-9758-D7F4BDAC8CC9}"/>
              </a:ext>
            </a:extLst>
          </p:cNvPr>
          <p:cNvSpPr txBox="1"/>
          <p:nvPr/>
        </p:nvSpPr>
        <p:spPr>
          <a:xfrm>
            <a:off x="6235497" y="3617510"/>
            <a:ext cx="5487715" cy="47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it-IT" b="0" dirty="0">
                <a:effectLst/>
              </a:rPr>
              <a:t>Trova gli attori che hanno collaborato più volte con un regista, ordinati per frequenza.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CCFC1D5C-5C03-8A15-ED77-B02E2987E6DA}"/>
              </a:ext>
            </a:extLst>
          </p:cNvPr>
          <p:cNvSpPr txBox="1"/>
          <p:nvPr/>
        </p:nvSpPr>
        <p:spPr>
          <a:xfrm>
            <a:off x="468788" y="5110279"/>
            <a:ext cx="4900153" cy="47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it-IT" b="0" dirty="0">
                <a:effectLst/>
              </a:rPr>
              <a:t>Conta quanti film di un certo genere ha fatto una persona (come attore o regista).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3DCD0CB7-3F34-2F03-89D8-4CF9080FB2F5}"/>
              </a:ext>
            </a:extLst>
          </p:cNvPr>
          <p:cNvSpPr txBox="1"/>
          <p:nvPr/>
        </p:nvSpPr>
        <p:spPr>
          <a:xfrm>
            <a:off x="6305552" y="5067357"/>
            <a:ext cx="5417660" cy="829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it-IT" b="0" dirty="0">
                <a:effectLst/>
              </a:rPr>
              <a:t>Trova attori con esperienza in un genere specifico che hanno connessioni indirette con un regista</a:t>
            </a:r>
          </a:p>
          <a:p>
            <a:pPr>
              <a:lnSpc>
                <a:spcPts val="1350"/>
              </a:lnSpc>
              <a:buNone/>
            </a:pPr>
            <a:r>
              <a:rPr lang="it-IT" b="0" dirty="0">
                <a:effectLst/>
              </a:rPr>
              <a:t>(hanno recitato con attori del suo cast). Utile per suggerire casting realistici.</a:t>
            </a:r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9994AB83-C29B-C502-EC67-D27E074C51D2}"/>
              </a:ext>
            </a:extLst>
          </p:cNvPr>
          <p:cNvSpPr/>
          <p:nvPr/>
        </p:nvSpPr>
        <p:spPr>
          <a:xfrm>
            <a:off x="308988" y="1496292"/>
            <a:ext cx="11592960" cy="45357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38208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F8007-C973-D557-6937-A09F0B21D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99396814-E739-DC99-980C-AA4516115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7881258" cy="1131166"/>
          </a:xfrm>
        </p:spPr>
        <p:txBody>
          <a:bodyPr>
            <a:normAutofit/>
          </a:bodyPr>
          <a:lstStyle/>
          <a:p>
            <a:r>
              <a:rPr lang="it-IT" dirty="0"/>
              <a:t>Semantic Query Agent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E62A20F-77F1-25D1-39E7-1B318E78337B}"/>
              </a:ext>
            </a:extLst>
          </p:cNvPr>
          <p:cNvSpPr txBox="1"/>
          <p:nvPr/>
        </p:nvSpPr>
        <p:spPr>
          <a:xfrm>
            <a:off x="720039" y="1683778"/>
            <a:ext cx="218508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it-IT" b="1" dirty="0"/>
              <a:t>cerca_trame_simili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8B0A958-47CE-AAAC-931E-842AEE43247D}"/>
              </a:ext>
            </a:extLst>
          </p:cNvPr>
          <p:cNvSpPr txBox="1"/>
          <p:nvPr/>
        </p:nvSpPr>
        <p:spPr>
          <a:xfrm>
            <a:off x="6589808" y="1683778"/>
            <a:ext cx="179876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it-IT" b="1" dirty="0"/>
              <a:t>cerca_biografia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DEA00CDC-4395-BBD6-242C-05E55E5935CC}"/>
              </a:ext>
            </a:extLst>
          </p:cNvPr>
          <p:cNvSpPr txBox="1"/>
          <p:nvPr/>
        </p:nvSpPr>
        <p:spPr>
          <a:xfrm>
            <a:off x="468789" y="2155464"/>
            <a:ext cx="4900151" cy="47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</a:pPr>
            <a:r>
              <a:rPr lang="it-IT" dirty="0"/>
              <a:t>Cerca film con trame, atmosfere o temi semanticamente simili alla query fornita.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51FFAC0-6D93-84D1-4136-65C52979E1F4}"/>
              </a:ext>
            </a:extLst>
          </p:cNvPr>
          <p:cNvSpPr txBox="1"/>
          <p:nvPr/>
        </p:nvSpPr>
        <p:spPr>
          <a:xfrm>
            <a:off x="6305552" y="2155464"/>
            <a:ext cx="5417660" cy="47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</a:pPr>
            <a:r>
              <a:rPr lang="it-IT" dirty="0"/>
              <a:t>Cerca la biografia di un attore o regista nel knowledge base vettoriale.</a:t>
            </a:r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9C501946-275C-19A7-CC01-47B8FD3EABD0}"/>
              </a:ext>
            </a:extLst>
          </p:cNvPr>
          <p:cNvSpPr/>
          <p:nvPr/>
        </p:nvSpPr>
        <p:spPr>
          <a:xfrm>
            <a:off x="308988" y="1496292"/>
            <a:ext cx="11592960" cy="1261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23255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562477-4659-94A3-375D-56C515410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Cosa è in grado di fare il sistema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0B67B43-97AF-C971-0C38-BF66A881EC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494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000" dirty="0"/>
              <a:t>Il sistema è in grado di:</a:t>
            </a:r>
          </a:p>
          <a:p>
            <a:r>
              <a:rPr lang="it-IT" sz="2000" b="1" dirty="0"/>
              <a:t>Rispondere a domande fattuali sulla filmografia di attori e registi </a:t>
            </a:r>
            <a:br>
              <a:rPr lang="it-IT" sz="2000" dirty="0"/>
            </a:br>
            <a:r>
              <a:rPr lang="it-IT" sz="2000" dirty="0"/>
              <a:t>es. "In che film ha recitato X?"</a:t>
            </a:r>
          </a:p>
          <a:p>
            <a:r>
              <a:rPr lang="it-IT" sz="2000" b="1" dirty="0"/>
              <a:t>Trovare connessioni tra persone </a:t>
            </a:r>
            <a:br>
              <a:rPr lang="it-IT" sz="2000" dirty="0"/>
            </a:br>
            <a:r>
              <a:rPr lang="it-IT" sz="2000" dirty="0"/>
              <a:t>es. "Ci sono film in cui hanno recitato sia X che Y?"</a:t>
            </a:r>
          </a:p>
          <a:p>
            <a:r>
              <a:rPr lang="it-IT" sz="2000" b="1" dirty="0"/>
              <a:t>Analizzare le collaborazioni storiche di un regista e identificare i suoi attori ricorrenti</a:t>
            </a:r>
          </a:p>
          <a:p>
            <a:r>
              <a:rPr lang="it-IT" sz="2000" b="1" dirty="0"/>
              <a:t>Suggerire un casting realistico per un nuovo film basandosi sul network reale di collaborazioni</a:t>
            </a:r>
          </a:p>
          <a:p>
            <a:r>
              <a:rPr lang="it-IT" sz="2000" b="1" dirty="0"/>
              <a:t>Cercare film con atmosfere, temi o stili narrativi simili tramite ricerca semantica sulle trame</a:t>
            </a:r>
          </a:p>
          <a:p>
            <a:r>
              <a:rPr lang="it-IT" sz="2000" b="1" dirty="0"/>
              <a:t>Recuperare biografie di attori e registi</a:t>
            </a:r>
          </a:p>
          <a:p>
            <a:r>
              <a:rPr lang="it-IT" sz="2000" b="1" dirty="0"/>
              <a:t>Generare pitch creativi per nuovi film fondendo atmosfere di titoli esistenti con casting motivato da dati reali</a:t>
            </a:r>
          </a:p>
          <a:p>
            <a:endParaRPr lang="it-IT" sz="2000" dirty="0"/>
          </a:p>
        </p:txBody>
      </p:sp>
    </p:spTree>
    <p:extLst>
      <p:ext uri="{BB962C8B-B14F-4D97-AF65-F5344CB8AC3E}">
        <p14:creationId xmlns:p14="http://schemas.microsoft.com/office/powerpoint/2010/main" val="1433446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C1DF0B4-3ED9-1B61-1DFA-31972EC04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Generazione pitch creativi per nuovi film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EB06041-47E5-0165-C9BF-7BF8E765A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51771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3631E54-8354-37F7-1ABB-278BD8C2C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Come mai uso gemini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AC78F24-ABA2-7D51-7AA7-A017673A5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27352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7FBE056-0EB8-A3BF-BA85-E1B209C74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Stima costi unitari (in token)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595EADE-AEC4-DD75-437C-AD73F59201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Fare notebook che legge csv con dati tracing</a:t>
            </a:r>
          </a:p>
        </p:txBody>
      </p:sp>
    </p:spTree>
    <p:extLst>
      <p:ext uri="{BB962C8B-B14F-4D97-AF65-F5344CB8AC3E}">
        <p14:creationId xmlns:p14="http://schemas.microsoft.com/office/powerpoint/2010/main" val="1293278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8FADD-E033-BBC2-2AD5-25B1C6B24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002568-4FF0-73D0-0644-364539EB5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8616044" cy="1131166"/>
          </a:xfrm>
        </p:spPr>
        <p:txBody>
          <a:bodyPr>
            <a:normAutofit/>
          </a:bodyPr>
          <a:lstStyle/>
          <a:p>
            <a:r>
              <a:rPr lang="it-IT" dirty="0"/>
              <a:t>Possibile evoluzione Architettura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7C8DB45-E6FB-157B-3F51-0A3990EA3AD2}"/>
              </a:ext>
            </a:extLst>
          </p:cNvPr>
          <p:cNvSpPr txBox="1"/>
          <p:nvPr/>
        </p:nvSpPr>
        <p:spPr>
          <a:xfrm>
            <a:off x="457325" y="4434103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USER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70C557E8-9FB0-9E08-7D2D-63269DDA2998}"/>
              </a:ext>
            </a:extLst>
          </p:cNvPr>
          <p:cNvSpPr txBox="1"/>
          <p:nvPr/>
        </p:nvSpPr>
        <p:spPr>
          <a:xfrm>
            <a:off x="1479566" y="4285270"/>
            <a:ext cx="1079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PROMPT</a:t>
            </a:r>
          </a:p>
        </p:txBody>
      </p:sp>
      <p:cxnSp>
        <p:nvCxnSpPr>
          <p:cNvPr id="13" name="Connettore dritto 12">
            <a:extLst>
              <a:ext uri="{FF2B5EF4-FFF2-40B4-BE49-F238E27FC236}">
                <a16:creationId xmlns:a16="http://schemas.microsoft.com/office/drawing/2014/main" id="{038AFE70-4A21-6DED-4002-E95DB5E06AE7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1219072" y="4618769"/>
            <a:ext cx="14889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diritto a freccia 26">
            <a:extLst>
              <a:ext uri="{FF2B5EF4-FFF2-40B4-BE49-F238E27FC236}">
                <a16:creationId xmlns:a16="http://schemas.microsoft.com/office/drawing/2014/main" id="{3CBDFC1E-172E-63BA-3FFB-BDC041ED1D47}"/>
              </a:ext>
            </a:extLst>
          </p:cNvPr>
          <p:cNvCxnSpPr>
            <a:cxnSpLocks/>
          </p:cNvCxnSpPr>
          <p:nvPr/>
        </p:nvCxnSpPr>
        <p:spPr>
          <a:xfrm>
            <a:off x="2693998" y="4618769"/>
            <a:ext cx="9859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ttangolo con angoli arrotondati 27">
            <a:extLst>
              <a:ext uri="{FF2B5EF4-FFF2-40B4-BE49-F238E27FC236}">
                <a16:creationId xmlns:a16="http://schemas.microsoft.com/office/drawing/2014/main" id="{3A06D120-5B87-15C9-0CAB-BAFB325E58E7}"/>
              </a:ext>
            </a:extLst>
          </p:cNvPr>
          <p:cNvSpPr/>
          <p:nvPr/>
        </p:nvSpPr>
        <p:spPr>
          <a:xfrm>
            <a:off x="7411243" y="618985"/>
            <a:ext cx="2195665" cy="48145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b="1" dirty="0">
                <a:solidFill>
                  <a:schemeClr val="tx1"/>
                </a:solidFill>
              </a:rPr>
              <a:t>GRAPH QUERY AGENT</a:t>
            </a:r>
          </a:p>
        </p:txBody>
      </p:sp>
      <p:sp>
        <p:nvSpPr>
          <p:cNvPr id="29" name="Rettangolo con angoli arrotondati 28">
            <a:extLst>
              <a:ext uri="{FF2B5EF4-FFF2-40B4-BE49-F238E27FC236}">
                <a16:creationId xmlns:a16="http://schemas.microsoft.com/office/drawing/2014/main" id="{3AFFDA7B-4B7D-4C24-0B51-794D7D8288D4}"/>
              </a:ext>
            </a:extLst>
          </p:cNvPr>
          <p:cNvSpPr/>
          <p:nvPr/>
        </p:nvSpPr>
        <p:spPr>
          <a:xfrm>
            <a:off x="7411243" y="3805682"/>
            <a:ext cx="2195665" cy="47546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b="1" dirty="0">
                <a:solidFill>
                  <a:schemeClr val="tx1"/>
                </a:solidFill>
              </a:rPr>
              <a:t>SEMANTIC QUERY AGENT</a:t>
            </a: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3DBABF74-ED00-A3B6-84D3-F6CEB75DEA80}"/>
              </a:ext>
            </a:extLst>
          </p:cNvPr>
          <p:cNvSpPr/>
          <p:nvPr/>
        </p:nvSpPr>
        <p:spPr>
          <a:xfrm>
            <a:off x="7411243" y="2144860"/>
            <a:ext cx="2195665" cy="47546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b="1" dirty="0">
                <a:solidFill>
                  <a:schemeClr val="tx1"/>
                </a:solidFill>
              </a:rPr>
              <a:t>CREATIVE AGENT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8F2C3166-BA7B-7B8F-88B4-B6BDF0D31FE9}"/>
              </a:ext>
            </a:extLst>
          </p:cNvPr>
          <p:cNvSpPr txBox="1"/>
          <p:nvPr/>
        </p:nvSpPr>
        <p:spPr>
          <a:xfrm>
            <a:off x="7721045" y="1847520"/>
            <a:ext cx="15383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/>
              <a:t>COORDINATORE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C6BDDFC1-D6A8-1925-D0E7-455947AC8B4C}"/>
              </a:ext>
            </a:extLst>
          </p:cNvPr>
          <p:cNvSpPr txBox="1"/>
          <p:nvPr/>
        </p:nvSpPr>
        <p:spPr>
          <a:xfrm>
            <a:off x="8026962" y="311207"/>
            <a:ext cx="9265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/>
              <a:t>WORKER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464A61EB-21C6-8237-5877-85F3B0077221}"/>
              </a:ext>
            </a:extLst>
          </p:cNvPr>
          <p:cNvSpPr txBox="1"/>
          <p:nvPr/>
        </p:nvSpPr>
        <p:spPr>
          <a:xfrm>
            <a:off x="8048350" y="3490234"/>
            <a:ext cx="9265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/>
              <a:t>WORKER</a:t>
            </a:r>
          </a:p>
        </p:txBody>
      </p:sp>
      <p:cxnSp>
        <p:nvCxnSpPr>
          <p:cNvPr id="51" name="Connettore diritto a freccia 50">
            <a:extLst>
              <a:ext uri="{FF2B5EF4-FFF2-40B4-BE49-F238E27FC236}">
                <a16:creationId xmlns:a16="http://schemas.microsoft.com/office/drawing/2014/main" id="{82E960DE-3079-5BC1-225E-B3176F44B2A1}"/>
              </a:ext>
            </a:extLst>
          </p:cNvPr>
          <p:cNvCxnSpPr>
            <a:cxnSpLocks/>
          </p:cNvCxnSpPr>
          <p:nvPr/>
        </p:nvCxnSpPr>
        <p:spPr>
          <a:xfrm flipV="1">
            <a:off x="8504263" y="1164195"/>
            <a:ext cx="0" cy="686886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ttore diritto a freccia 51">
            <a:extLst>
              <a:ext uri="{FF2B5EF4-FFF2-40B4-BE49-F238E27FC236}">
                <a16:creationId xmlns:a16="http://schemas.microsoft.com/office/drawing/2014/main" id="{315B6845-9ADF-546A-5FB1-8DF8F41DFEB9}"/>
              </a:ext>
            </a:extLst>
          </p:cNvPr>
          <p:cNvCxnSpPr>
            <a:cxnSpLocks/>
          </p:cNvCxnSpPr>
          <p:nvPr/>
        </p:nvCxnSpPr>
        <p:spPr>
          <a:xfrm flipH="1" flipV="1">
            <a:off x="8482875" y="2768574"/>
            <a:ext cx="7355" cy="72166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127E29DB-3458-0624-9AE3-73550445C151}"/>
              </a:ext>
            </a:extLst>
          </p:cNvPr>
          <p:cNvSpPr/>
          <p:nvPr/>
        </p:nvSpPr>
        <p:spPr>
          <a:xfrm>
            <a:off x="3679902" y="4349802"/>
            <a:ext cx="1763486" cy="6096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chemeClr val="tx1"/>
                </a:solidFill>
              </a:rPr>
              <a:t>ROUTER AGENT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08B545B1-802E-F7C3-B5D6-1791FBC0AE5F}"/>
              </a:ext>
            </a:extLst>
          </p:cNvPr>
          <p:cNvSpPr/>
          <p:nvPr/>
        </p:nvSpPr>
        <p:spPr>
          <a:xfrm>
            <a:off x="7064477" y="176981"/>
            <a:ext cx="2875936" cy="444178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a gomito 11">
            <a:extLst>
              <a:ext uri="{FF2B5EF4-FFF2-40B4-BE49-F238E27FC236}">
                <a16:creationId xmlns:a16="http://schemas.microsoft.com/office/drawing/2014/main" id="{B2358E1F-7706-7499-7ABA-816E39B4540B}"/>
              </a:ext>
            </a:extLst>
          </p:cNvPr>
          <p:cNvCxnSpPr>
            <a:stCxn id="3" idx="3"/>
            <a:endCxn id="17" idx="1"/>
          </p:cNvCxnSpPr>
          <p:nvPr/>
        </p:nvCxnSpPr>
        <p:spPr>
          <a:xfrm flipV="1">
            <a:off x="5443388" y="2382595"/>
            <a:ext cx="1967855" cy="2272007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443095E4-E87C-2DBD-F426-819941B00607}"/>
              </a:ext>
            </a:extLst>
          </p:cNvPr>
          <p:cNvSpPr/>
          <p:nvPr/>
        </p:nvSpPr>
        <p:spPr>
          <a:xfrm>
            <a:off x="7392397" y="5395160"/>
            <a:ext cx="2195665" cy="475469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b="1" dirty="0">
                <a:solidFill>
                  <a:schemeClr val="tx1"/>
                </a:solidFill>
              </a:rPr>
              <a:t>BUILDER WORKFLOW</a:t>
            </a:r>
          </a:p>
        </p:txBody>
      </p:sp>
      <p:cxnSp>
        <p:nvCxnSpPr>
          <p:cNvPr id="16" name="Connettore a gomito 15">
            <a:extLst>
              <a:ext uri="{FF2B5EF4-FFF2-40B4-BE49-F238E27FC236}">
                <a16:creationId xmlns:a16="http://schemas.microsoft.com/office/drawing/2014/main" id="{2E4DA857-C5E2-B052-8EB5-6395B618BECC}"/>
              </a:ext>
            </a:extLst>
          </p:cNvPr>
          <p:cNvCxnSpPr>
            <a:stCxn id="3" idx="3"/>
            <a:endCxn id="14" idx="1"/>
          </p:cNvCxnSpPr>
          <p:nvPr/>
        </p:nvCxnSpPr>
        <p:spPr>
          <a:xfrm>
            <a:off x="5443388" y="4654602"/>
            <a:ext cx="1949009" cy="978293"/>
          </a:xfrm>
          <a:prstGeom prst="bentConnector3">
            <a:avLst>
              <a:gd name="adj1" fmla="val 5038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610B743F-F0E6-0853-CDDD-19BAEE952F78}"/>
              </a:ext>
            </a:extLst>
          </p:cNvPr>
          <p:cNvSpPr txBox="1"/>
          <p:nvPr/>
        </p:nvSpPr>
        <p:spPr>
          <a:xfrm>
            <a:off x="3338981" y="5013430"/>
            <a:ext cx="2445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Classifica la richiesta e smista verso uno dei agenti.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EFC6C517-1A1C-1DB1-2F0C-4E62238A0C4D}"/>
              </a:ext>
            </a:extLst>
          </p:cNvPr>
          <p:cNvSpPr txBox="1"/>
          <p:nvPr/>
        </p:nvSpPr>
        <p:spPr>
          <a:xfrm>
            <a:off x="6857811" y="5900927"/>
            <a:ext cx="4191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1400" dirty="0"/>
              <a:t>“Aggiungi al grafo il film Inception e tutte le informazioni sugli attori principali.”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26605343-B72D-BEDE-EB70-48DF9418AE30}"/>
              </a:ext>
            </a:extLst>
          </p:cNvPr>
          <p:cNvSpPr txBox="1"/>
          <p:nvPr/>
        </p:nvSpPr>
        <p:spPr>
          <a:xfrm>
            <a:off x="9960749" y="126076"/>
            <a:ext cx="18842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/>
              <a:t>PARTE GIA’ PRESENTE</a:t>
            </a:r>
          </a:p>
        </p:txBody>
      </p:sp>
    </p:spTree>
    <p:extLst>
      <p:ext uri="{BB962C8B-B14F-4D97-AF65-F5344CB8AC3E}">
        <p14:creationId xmlns:p14="http://schemas.microsoft.com/office/powerpoint/2010/main" val="6774983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13251</TotalTime>
  <Words>747</Words>
  <Application>Microsoft Macintosh PowerPoint</Application>
  <PresentationFormat>Widescreen</PresentationFormat>
  <Paragraphs>100</Paragraphs>
  <Slides>13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Tema di Office</vt:lpstr>
      <vt:lpstr>Presentazione standard di PowerPoint</vt:lpstr>
      <vt:lpstr>Obiettivo progetto</vt:lpstr>
      <vt:lpstr>Ingestion</vt:lpstr>
      <vt:lpstr>Embedding</vt:lpstr>
      <vt:lpstr>Grafo Neo4J</vt:lpstr>
      <vt:lpstr>Architettura</vt:lpstr>
      <vt:lpstr>Graph Query Agent</vt:lpstr>
      <vt:lpstr>Semantic Query Agent</vt:lpstr>
      <vt:lpstr>Cosa è in grado di fare il sistema</vt:lpstr>
      <vt:lpstr>Generazione pitch creativi per nuovi film</vt:lpstr>
      <vt:lpstr>Come mai uso gemini</vt:lpstr>
      <vt:lpstr>Stima costi unitari (in token)</vt:lpstr>
      <vt:lpstr>Possibile evoluzione Architettura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PIER GABRIEL MARONE AUNET</dc:creator>
  <cp:lastModifiedBy>PIER GABRIEL MARONE AUNET</cp:lastModifiedBy>
  <cp:revision>22</cp:revision>
  <dcterms:created xsi:type="dcterms:W3CDTF">2026-06-05T08:56:50Z</dcterms:created>
  <dcterms:modified xsi:type="dcterms:W3CDTF">2026-09-03T05:18:41Z</dcterms:modified>
</cp:coreProperties>
</file>